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15:33:49.841"/>
    </inkml:context>
    <inkml:brush xml:id="br0">
      <inkml:brushProperty name="width" value="0.05" units="cm"/>
      <inkml:brushProperty name="height" value="0.05" units="cm"/>
      <inkml:brushProperty name="color" value="#82827D"/>
    </inkml:brush>
  </inkml:definitions>
  <inkml:trace contextRef="#ctx0" brushRef="#br0">0 0,'0'0,"0"0,0 0,0 0,0 0,0 0,0 0,0 0,0 0,0 0,0 0,0 0,0 0,0 0,0 0,0 0,0 0,0 0,17 0,-11 0,-12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 /><Relationship Id="rId3" Type="http://schemas.openxmlformats.org/officeDocument/2006/relationships/customXml" Target="../ink/ink1.xml" /><Relationship Id="rId7" Type="http://schemas.openxmlformats.org/officeDocument/2006/relationships/image" Target="../media/image14.jpeg" /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tonRodx/TPI-Funcional-2026-Grupo-Numero31/blob/main/lisp%2Fcore.lisp" TargetMode="External" /><Relationship Id="rId2" Type="http://schemas.openxmlformats.org/officeDocument/2006/relationships/hyperlink" Target="https://virtual-moodle.unne.edu.ar/mod/resource/view.php?id=1046606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.jpeg" /><Relationship Id="rId5" Type="http://schemas.openxmlformats.org/officeDocument/2006/relationships/hyperlink" Target="https://claude.ai" TargetMode="External" /><Relationship Id="rId4" Type="http://schemas.openxmlformats.org/officeDocument/2006/relationships/hyperlink" Target="https://youtu.be/OVWT0U3imCU?si=y8ehYUwdpGOYd1v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423EC36-41D0-39CB-3F7C-01D44704B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6376" y="1547930"/>
            <a:ext cx="3117271" cy="282388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algn="l"/>
            <a:r>
              <a:rPr lang="es-US" sz="6400" b="1" dirty="0"/>
              <a:t>INTEGRANTES</a:t>
            </a:r>
            <a:r>
              <a:rPr lang="es-US" sz="6400" dirty="0"/>
              <a:t>:</a:t>
            </a:r>
          </a:p>
          <a:p>
            <a:pPr algn="l"/>
            <a:endParaRPr lang="es-US" sz="6400" dirty="0"/>
          </a:p>
          <a:p>
            <a:r>
              <a:rPr lang="es-US" sz="6400" dirty="0"/>
              <a:t>●Rodriguez Rivas Milton Nahuel</a:t>
            </a:r>
          </a:p>
          <a:p>
            <a:r>
              <a:rPr lang="es-US" sz="6400" dirty="0"/>
              <a:t>
●Quintana Flores Lautaro Sebastian</a:t>
            </a:r>
          </a:p>
          <a:p>
            <a:r>
              <a:rPr lang="es-US" sz="6400" dirty="0"/>
              <a:t>
●Nacimiento Nestor Javier</a:t>
            </a:r>
          </a:p>
          <a:p>
            <a:r>
              <a:rPr lang="es-US" sz="6400" dirty="0"/>
              <a:t>
●Fernández Juliana Eva</a:t>
            </a:r>
          </a:p>
          <a:p>
            <a:r>
              <a:rPr lang="es-US" sz="6400" dirty="0"/>
              <a:t>
●Rodríguez Adolfo Joaquín </a:t>
            </a:r>
            <a:r>
              <a:rPr lang="es-US" sz="6400" dirty="0" err="1"/>
              <a:t>Jesus</a:t>
            </a:r>
            <a:endParaRPr lang="es-US" sz="6400" dirty="0"/>
          </a:p>
          <a:p>
            <a:endParaRPr lang="es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BC40B65-CA99-8ACF-05FF-F403A2F4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36"/>
          <a:stretch>
            <a:fillRect/>
          </a:stretch>
        </p:blipFill>
        <p:spPr>
          <a:xfrm>
            <a:off x="4685553" y="1547930"/>
            <a:ext cx="5957047" cy="23816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1B484F2-05D5-8E96-7819-167E2275E3F5}"/>
              </a:ext>
            </a:extLst>
          </p:cNvPr>
          <p:cNvSpPr txBox="1"/>
          <p:nvPr/>
        </p:nvSpPr>
        <p:spPr>
          <a:xfrm>
            <a:off x="3045012" y="4602184"/>
            <a:ext cx="610197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s-US" sz="4000" b="1" dirty="0"/>
              <a:t>Paradigmas Funcionales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7C9D7C-FEFB-0C96-DBF6-C746590C93C6}"/>
              </a:ext>
            </a:extLst>
          </p:cNvPr>
          <p:cNvSpPr txBox="1"/>
          <p:nvPr/>
        </p:nvSpPr>
        <p:spPr>
          <a:xfrm>
            <a:off x="9086476" y="5196317"/>
            <a:ext cx="182880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s-US" sz="2000" b="1" dirty="0"/>
              <a:t>Grupo N°31</a:t>
            </a:r>
          </a:p>
        </p:txBody>
      </p:sp>
    </p:spTree>
    <p:extLst>
      <p:ext uri="{BB962C8B-B14F-4D97-AF65-F5344CB8AC3E}">
        <p14:creationId xmlns:p14="http://schemas.microsoft.com/office/powerpoint/2010/main" val="384700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3663F-CAF4-486F-3069-71DCE7E0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¿Que es un paradigma Funcional?</a:t>
            </a:r>
            <a:br>
              <a:rPr lang="es-US" dirty="0"/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856AD5-9B41-A4A7-A210-EB507729B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7338"/>
            <a:ext cx="9601200" cy="3581400"/>
          </a:xfrm>
        </p:spPr>
        <p:txBody>
          <a:bodyPr>
            <a:normAutofit/>
          </a:bodyPr>
          <a:lstStyle/>
          <a:p>
            <a:r>
              <a:rPr lang="es-US" sz="2400" dirty="0"/>
              <a:t>Un paradigma Funcional es una forma de programar utilizando funciones matemáticas para transformar datos y resolver problemas.</a:t>
            </a:r>
          </a:p>
          <a:p>
            <a:endParaRPr lang="es-US" sz="2400" dirty="0"/>
          </a:p>
          <a:p>
            <a:r>
              <a:rPr lang="es-US" sz="2400" dirty="0"/>
              <a:t>Es muy utilizado en códigos como: </a:t>
            </a:r>
            <a:r>
              <a:rPr lang="es-US" sz="2400" dirty="0" err="1"/>
              <a:t>Haskell</a:t>
            </a:r>
            <a:r>
              <a:rPr lang="es-US" sz="2400" dirty="0"/>
              <a:t>, </a:t>
            </a:r>
            <a:r>
              <a:rPr lang="es-US" sz="2400" dirty="0" err="1"/>
              <a:t>Erlang</a:t>
            </a:r>
            <a:r>
              <a:rPr lang="es-US" sz="2400" dirty="0"/>
              <a:t>, </a:t>
            </a:r>
            <a:r>
              <a:rPr lang="es-US" sz="2400" dirty="0" err="1"/>
              <a:t>Clojure,etc</a:t>
            </a:r>
            <a:r>
              <a:rPr lang="es-US" sz="2400" dirty="0"/>
              <a:t>.</a:t>
            </a:r>
          </a:p>
          <a:p>
            <a:pPr marL="0" indent="0">
              <a:buNone/>
            </a:pPr>
            <a:endParaRPr lang="es-US" sz="2400" dirty="0"/>
          </a:p>
          <a:p>
            <a:r>
              <a:rPr lang="es-US" sz="2400" dirty="0"/>
              <a:t>Permite dividir un problema en problemas mas pequeños. Facilitando así su identificación de errores y fácil mantenimiento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A2DF2A-CD53-358B-AE9C-BC02EA7A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88"/>
          <a:stretch>
            <a:fillRect/>
          </a:stretch>
        </p:blipFill>
        <p:spPr>
          <a:xfrm>
            <a:off x="8701740" y="5493436"/>
            <a:ext cx="3490259" cy="136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3CF39-EAA2-750F-18C4-4C9CFAA3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Características importantes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FCA42-3244-37D7-5E52-C327ACCE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7640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sz="2400" dirty="0"/>
              <a:t>Algunas de las características mas importantes en este tipo de paradigma son :</a:t>
            </a:r>
          </a:p>
          <a:p>
            <a:pPr marL="0" indent="0">
              <a:buNone/>
            </a:pPr>
            <a:r>
              <a:rPr lang="es-US" sz="2400" dirty="0"/>
              <a:t>Las funciones puras: son funciones que siempre devuelven un mismo resultado para los mismos parámetros. NO presenta efectos secundarios</a:t>
            </a:r>
          </a:p>
          <a:p>
            <a:pPr marL="0" indent="0">
              <a:buNone/>
            </a:pPr>
            <a:r>
              <a:rPr lang="es-US" sz="2400" dirty="0"/>
              <a:t>La inmutabilidad son constantes o variables que evita que cambiemos los valores una vez creada.</a:t>
            </a:r>
          </a:p>
          <a:p>
            <a:pPr marL="0" indent="0">
              <a:buNone/>
            </a:pPr>
            <a:r>
              <a:rPr lang="es-US" sz="2400" dirty="0"/>
              <a:t>Recursión: son bloque de código que utiliza bucles iterativos para procesar datos.</a:t>
            </a:r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191BB0-5601-1206-4AB9-3D75E5004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658" y="5636170"/>
            <a:ext cx="3215341" cy="122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7AB9B-5AAD-497F-1EBD-A4055EC8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Ejemplos de funciones puras</a:t>
            </a:r>
            <a:br>
              <a:rPr lang="es-US" dirty="0"/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229BA1-C377-1BEF-A38F-6DE64219B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46411"/>
            <a:ext cx="9601200" cy="3581400"/>
          </a:xfrm>
        </p:spPr>
        <p:txBody>
          <a:bodyPr/>
          <a:lstStyle/>
          <a:p>
            <a:r>
              <a:rPr lang="es-US" dirty="0"/>
              <a:t>En el sistema que hemos desarrollado funciones como transición o </a:t>
            </a:r>
            <a:r>
              <a:rPr lang="es-US" dirty="0" err="1"/>
              <a:t>semaforo</a:t>
            </a:r>
            <a:r>
              <a:rPr lang="es-US" dirty="0"/>
              <a:t>- </a:t>
            </a:r>
            <a:r>
              <a:rPr lang="es-US" dirty="0" err="1"/>
              <a:t>timer</a:t>
            </a:r>
            <a:r>
              <a:rPr lang="es-US" dirty="0"/>
              <a:t> son ejemplos claros de funciones puras </a:t>
            </a:r>
          </a:p>
          <a:p>
            <a:r>
              <a:rPr lang="es-US" b="1" dirty="0"/>
              <a:t>(Mismas entradas(COLORES)Mismas salidas (LISTAS))</a:t>
            </a:r>
          </a:p>
          <a:p>
            <a:pPr marL="0" indent="0">
              <a:buNone/>
            </a:pPr>
            <a:r>
              <a:rPr lang="es-US" dirty="0"/>
              <a:t>EJEMPLO 1:</a:t>
            </a:r>
          </a:p>
          <a:p>
            <a:r>
              <a:rPr lang="es-US" dirty="0"/>
              <a:t>Función transición: Evalúa dos variables que serán ingresadas como parámetro y devuelve una lista en cualquier caso del cond.</a:t>
            </a:r>
          </a:p>
          <a:p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B5AC1C-ECB7-4D5F-9E33-640DB572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42" y="3723482"/>
            <a:ext cx="7657319" cy="29063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4A94EC-7389-A76A-9973-11E267C9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142" y="5508066"/>
            <a:ext cx="3321858" cy="13370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E42D62-A4EE-83CD-2062-77DE6BE38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361" y="3759248"/>
            <a:ext cx="3381375" cy="133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4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14A3C-FCAE-C85C-9CD5-A7E3BE58C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es-US" dirty="0"/>
              <a:t>Ejemplo 2:</a:t>
            </a:r>
          </a:p>
          <a:p>
            <a:r>
              <a:rPr lang="es-US" dirty="0"/>
              <a:t>Función Semaforo-timer: Aplica la función </a:t>
            </a:r>
            <a:r>
              <a:rPr lang="es-US" dirty="0" err="1"/>
              <a:t>mod</a:t>
            </a:r>
            <a:r>
              <a:rPr lang="es-US" dirty="0"/>
              <a:t> sobre la variable </a:t>
            </a:r>
            <a:r>
              <a:rPr lang="es-US" dirty="0" err="1"/>
              <a:t>timestamp</a:t>
            </a:r>
            <a:r>
              <a:rPr lang="es-US" dirty="0"/>
              <a:t> y determina el color activo en esa condición.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8F44ABC-F396-7BC5-C806-D5D69E6B0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S" dirty="0"/>
              <a:t>Ejemplos de funciones puras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B5128B-4FE2-C482-408B-2001A635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940" y="5650472"/>
            <a:ext cx="3287059" cy="124086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F82BC86-5F5D-F2A6-1703-E5914B8EB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57512"/>
            <a:ext cx="6115050" cy="24955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ABF09E-D088-2231-18C2-B4C8FA160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0" y="3775636"/>
            <a:ext cx="4448175" cy="133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4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4F807-D2E1-04E3-1DEB-2096E438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Ejemplo de función Impura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3645ED-D58C-1CD8-3F6A-882E9DC26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5523"/>
            <a:ext cx="9601200" cy="4361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Una función impura o No pura es aquella que modifica variables o estados externos (efectos secundarios) y no garantiza el mismo resultado al recibir los mismos valores de entrada.</a:t>
            </a:r>
          </a:p>
          <a:p>
            <a:pPr marL="0" indent="0">
              <a:buNone/>
            </a:pPr>
            <a:r>
              <a:rPr lang="es-US" b="1" dirty="0"/>
              <a:t>(Mismos Entradas Diferentes Salidas)</a:t>
            </a:r>
          </a:p>
          <a:p>
            <a:pPr marL="0" indent="0">
              <a:buNone/>
            </a:pPr>
            <a:r>
              <a:rPr lang="es-US" dirty="0"/>
              <a:t>Ejemplo : </a:t>
            </a:r>
          </a:p>
          <a:p>
            <a:r>
              <a:rPr lang="es-US" dirty="0"/>
              <a:t>Función Saludar: No es función pura puesto que el </a:t>
            </a:r>
            <a:r>
              <a:rPr lang="es-US" dirty="0" err="1"/>
              <a:t>format</a:t>
            </a:r>
            <a:r>
              <a:rPr lang="es-US" dirty="0"/>
              <a:t> imprimirá  en pantalla creando así un efecto secundario.(Interacción con el usuario)</a:t>
            </a:r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BEF26E-33AA-C9E2-E458-0D6832CC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082" y="5629846"/>
            <a:ext cx="3322918" cy="12710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BA0F139-F866-FEE6-3529-60BC4B9B1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91" y="4394105"/>
            <a:ext cx="3665943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4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35C3D-8E49-608E-CE77-8BF534D0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Inmutabilidad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1692334-ADB3-788A-8550-0203CF25D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5176" y="5561106"/>
            <a:ext cx="3346824" cy="129689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F324E3-203B-3D62-B0BD-F028BE0CB2BE}"/>
              </a:ext>
            </a:extLst>
          </p:cNvPr>
          <p:cNvSpPr txBox="1"/>
          <p:nvPr/>
        </p:nvSpPr>
        <p:spPr>
          <a:xfrm>
            <a:off x="1231153" y="1326777"/>
            <a:ext cx="101360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US" dirty="0"/>
              <a:t>La Inmutabilidad es un tipo de dato </a:t>
            </a:r>
            <a:r>
              <a:rPr lang="es-US" dirty="0" err="1"/>
              <a:t>constante;Es</a:t>
            </a:r>
            <a:r>
              <a:rPr lang="es-US" dirty="0"/>
              <a:t> decir una variable que no cambia durante la ejecución del programa tampoco se destruye.</a:t>
            </a:r>
          </a:p>
          <a:p>
            <a:pPr algn="l"/>
            <a:endParaRPr lang="es-US" dirty="0"/>
          </a:p>
          <a:p>
            <a:pPr algn="l"/>
            <a:r>
              <a:rPr lang="es-US" dirty="0"/>
              <a:t>En nuestro informe los datos contantes fueron definidas mediante la función.(</a:t>
            </a:r>
            <a:r>
              <a:rPr lang="es-US" dirty="0" err="1"/>
              <a:t>Defcontant</a:t>
            </a:r>
            <a:r>
              <a:rPr lang="es-US" dirty="0"/>
              <a:t> …)</a:t>
            </a:r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endParaRPr lang="es-US" dirty="0"/>
          </a:p>
          <a:p>
            <a:pPr algn="l"/>
            <a:r>
              <a:rPr lang="es-US" dirty="0"/>
              <a:t>Un dato mutable o cambiante es aquella que se crean y se destruyen con </a:t>
            </a:r>
            <a:r>
              <a:rPr lang="es-US" dirty="0" err="1"/>
              <a:t>setq,setf</a:t>
            </a:r>
            <a:r>
              <a:rPr lang="es-US" dirty="0"/>
              <a:t> o </a:t>
            </a:r>
            <a:r>
              <a:rPr lang="es-US" dirty="0" err="1"/>
              <a:t>rplaca.Asignando</a:t>
            </a:r>
            <a:r>
              <a:rPr lang="es-US" dirty="0"/>
              <a:t> valores a una variable y cambiar su valor durante </a:t>
            </a:r>
            <a:r>
              <a:rPr lang="es-US"/>
              <a:t>el programa.</a:t>
            </a:r>
            <a:endParaRPr lang="es-US" dirty="0"/>
          </a:p>
          <a:p>
            <a:pPr algn="l"/>
            <a:endParaRPr lang="es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A598CA-C24E-EA77-464A-EB3DF241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695" y="2514601"/>
            <a:ext cx="45148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6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1B0D2-DDC0-E0E7-F775-67273493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494" y="0"/>
            <a:ext cx="9601200" cy="1485900"/>
          </a:xfrm>
        </p:spPr>
        <p:txBody>
          <a:bodyPr/>
          <a:lstStyle/>
          <a:p>
            <a:r>
              <a:rPr lang="es-US" dirty="0"/>
              <a:t>Función de Orden Superior: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17E3F2C-1305-B7B5-8589-2A4ED236B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652"/>
          <a:stretch>
            <a:fillRect/>
          </a:stretch>
        </p:blipFill>
        <p:spPr>
          <a:xfrm>
            <a:off x="944282" y="2226807"/>
            <a:ext cx="9601200" cy="138468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6CB1258-166C-2BD3-48EB-FDD093443C21}"/>
              </a:ext>
            </a:extLst>
          </p:cNvPr>
          <p:cNvSpPr txBox="1"/>
          <p:nvPr/>
        </p:nvSpPr>
        <p:spPr>
          <a:xfrm>
            <a:off x="1083982" y="673350"/>
            <a:ext cx="1002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US" dirty="0"/>
              <a:t>Una función de orden superior es aquella que cumple al menos una de estas condiciones:
Recibe otra función como parámetro, o Devuelve una función como resultado
Es uno de los pilares del </a:t>
            </a:r>
            <a:r>
              <a:rPr lang="es-US" u="sng" dirty="0"/>
              <a:t>paradigma funcional</a:t>
            </a:r>
            <a:r>
              <a:rPr lang="es-US" dirty="0"/>
              <a:t> porque permite tratar las funciones como “valores” igual que cualquier número o lista.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6A22BB-0115-54B9-8ED0-88F5E66D4F78}"/>
              </a:ext>
            </a:extLst>
          </p:cNvPr>
          <p:cNvSpPr txBox="1"/>
          <p:nvPr/>
        </p:nvSpPr>
        <p:spPr>
          <a:xfrm>
            <a:off x="944282" y="1846919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US" dirty="0"/>
              <a:t>Ejemplo:</a:t>
            </a:r>
          </a:p>
          <a:p>
            <a:pPr algn="l"/>
            <a:endParaRPr lang="es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873B20F-3DEA-A17D-1A58-001AAC052EE7}"/>
                  </a:ext>
                </a:extLst>
              </p14:cNvPr>
              <p14:cNvContentPartPr/>
              <p14:nvPr/>
            </p14:nvContentPartPr>
            <p14:xfrm>
              <a:off x="1284840" y="4374619"/>
              <a:ext cx="864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873B20F-3DEA-A17D-1A58-001AAC052E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5840" y="4365619"/>
                <a:ext cx="2628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77709A0E-BAD0-9CF9-DC61-B2A0D7C8E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71" y="3666819"/>
            <a:ext cx="8128000" cy="30882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48A66C8-40C6-98DB-401A-47615F15F0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4941" y="5657671"/>
            <a:ext cx="3245445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0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8977B-D647-2C4C-D830-D66E25A3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/>
              <a:t>Bibliografía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0773D-C201-E255-E7D4-53453C56C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670" y="1638300"/>
            <a:ext cx="9601200" cy="3581400"/>
          </a:xfrm>
          <a:ln>
            <a:solidFill>
              <a:schemeClr val="bg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US" dirty="0">
              <a:solidFill>
                <a:srgbClr val="77A2BB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Teoria</a:t>
            </a:r>
            <a:r>
              <a:rPr lang="es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Paradigma Funcional 3:</a:t>
            </a:r>
          </a:p>
          <a:p>
            <a:pPr marL="0" indent="0">
              <a:buNone/>
            </a:pPr>
            <a:r>
              <a:rPr lang="es-US" dirty="0">
                <a:solidFill>
                  <a:srgbClr val="77A2B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https://virtual-moodle.unne.edu.ar/mod/resource/view.php?id=1046606</a:t>
            </a:r>
            <a:endParaRPr lang="es-US" dirty="0"/>
          </a:p>
          <a:p>
            <a:r>
              <a:rPr lang="es-US" dirty="0">
                <a:solidFill>
                  <a:schemeClr val="tx1"/>
                </a:solidFill>
              </a:rPr>
              <a:t>Repositorio donde se extrajo código slider 4 y 5:</a:t>
            </a:r>
            <a:endParaRPr lang="es-US" dirty="0">
              <a:solidFill>
                <a:schemeClr val="tx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s-US" dirty="0">
                <a:solidFill>
                  <a:srgbClr val="77A2B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https://github.com/MiltonRodx/TPI-Funcional-2026-Grupo-Numero31/blob/main/lisp%2Fcore.lisp</a:t>
            </a:r>
            <a:endParaRPr lang="es-US" dirty="0"/>
          </a:p>
          <a:p>
            <a:r>
              <a:rPr lang="es-US" dirty="0"/>
              <a:t>El paradigma de programación funcional:</a:t>
            </a:r>
          </a:p>
          <a:p>
            <a:pPr marL="0" indent="0">
              <a:buNone/>
            </a:pPr>
            <a:r>
              <a:rPr lang="es-US" dirty="0">
                <a:hlinkClick r:id="rId4"/>
              </a:rPr>
              <a:t>https://youtu.be/OVWT0U3imCU?si=y8ehYUwdpGOYd1vS</a:t>
            </a:r>
            <a:endParaRPr lang="es-US" dirty="0"/>
          </a:p>
          <a:p>
            <a:r>
              <a:rPr lang="es-US" dirty="0"/>
              <a:t>Claude (modelo de lenguaje de gran escala). Utilizado como asistente de desarrollo y redacción. </a:t>
            </a:r>
            <a:r>
              <a:rPr lang="es-US" dirty="0">
                <a:hlinkClick r:id="rId5"/>
              </a:rPr>
              <a:t>https://claude.ai</a:t>
            </a:r>
            <a:endParaRPr lang="es-US" dirty="0"/>
          </a:p>
          <a:p>
            <a:pPr marL="0" indent="0">
              <a:buNone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EE3986-8578-2FD1-74A6-F60F142B5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270" y="5560268"/>
            <a:ext cx="3370729" cy="129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3155"/>
      </p:ext>
    </p:extLst>
  </p:cSld>
  <p:clrMapOvr>
    <a:masterClrMapping/>
  </p:clrMapOvr>
</p:sld>
</file>

<file path=ppt/theme/theme1.xml><?xml version="1.0" encoding="utf-8"?>
<a:theme xmlns:a="http://schemas.openxmlformats.org/drawingml/2006/main" name="TF1000102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TF10001025</vt:lpstr>
      <vt:lpstr>Presentación de PowerPoint</vt:lpstr>
      <vt:lpstr>¿Que es un paradigma Funcional? </vt:lpstr>
      <vt:lpstr>Características importantes</vt:lpstr>
      <vt:lpstr>Ejemplos de funciones puras </vt:lpstr>
      <vt:lpstr>Ejemplos de funciones puras</vt:lpstr>
      <vt:lpstr>Ejemplo de función Impura</vt:lpstr>
      <vt:lpstr>Inmutabilidad </vt:lpstr>
      <vt:lpstr>Función de Orden Superior:</vt:lpstr>
      <vt:lpstr>Bibliografía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Lautaro Flores</dc:creator>
  <cp:lastModifiedBy>Lautaro Flores</cp:lastModifiedBy>
  <cp:revision>34</cp:revision>
  <dcterms:created xsi:type="dcterms:W3CDTF">2026-05-31T23:12:09Z</dcterms:created>
  <dcterms:modified xsi:type="dcterms:W3CDTF">2026-06-01T16:19:07Z</dcterms:modified>
</cp:coreProperties>
</file>