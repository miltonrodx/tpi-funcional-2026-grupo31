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heme" Target="theme/theme1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viewProps" Target="viewProps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presProps" Target="presProps.xml" /><Relationship Id="rId5" Type="http://schemas.openxmlformats.org/officeDocument/2006/relationships/slide" Target="slides/slide4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tableStyles" Target="tableStyles.xml" 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01T15:33:49.841"/>
    </inkml:context>
    <inkml:brush xml:id="br0">
      <inkml:brushProperty name="width" value="0.05" units="cm"/>
      <inkml:brushProperty name="height" value="0.05" units="cm"/>
      <inkml:brushProperty name="color" value="#82827D"/>
    </inkml:brush>
  </inkml:definitions>
  <inkml:trace contextRef="#ctx0" brushRef="#br0">0 0,'0'0,"0"0,0 0,0 0,0 0,0 0,0 0,0 0,0 0,0 0,0 0,0 0,0 0,0 0,0 0,0 0,0 0,0 0,17 0,-11 0,-12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 /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 /><Relationship Id="rId2" Type="http://schemas.openxmlformats.org/officeDocument/2006/relationships/image" Target="../media/image3.jpeg" /><Relationship Id="rId1" Type="http://schemas.openxmlformats.org/officeDocument/2006/relationships/slideLayout" Target="../slideLayouts/slideLayout2.xml" /><Relationship Id="rId4" Type="http://schemas.openxmlformats.org/officeDocument/2006/relationships/image" Target="../media/image5.jpeg" 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 /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2.xml" /><Relationship Id="rId4" Type="http://schemas.openxmlformats.org/officeDocument/2006/relationships/image" Target="../media/image8.jpeg" 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 /><Relationship Id="rId2" Type="http://schemas.openxmlformats.org/officeDocument/2006/relationships/image" Target="../media/image9.jpeg" /><Relationship Id="rId1" Type="http://schemas.openxmlformats.org/officeDocument/2006/relationships/slideLayout" Target="../slideLayouts/slideLayout2.xml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 /><Relationship Id="rId2" Type="http://schemas.openxmlformats.org/officeDocument/2006/relationships/image" Target="../media/image11.jpeg" /><Relationship Id="rId1" Type="http://schemas.openxmlformats.org/officeDocument/2006/relationships/slideLayout" Target="../slideLayouts/slideLayout2.xml" 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 /><Relationship Id="rId3" Type="http://schemas.openxmlformats.org/officeDocument/2006/relationships/customXml" Target="../ink/ink1.xml" /><Relationship Id="rId7" Type="http://schemas.openxmlformats.org/officeDocument/2006/relationships/image" Target="../media/image14.jpeg" /><Relationship Id="rId2" Type="http://schemas.openxmlformats.org/officeDocument/2006/relationships/image" Target="../media/image13.jpeg" /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16.png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ltonRodx/TPI-Funcional-2026-Grupo-Numero31/blob/main/lisp%2Fcore.lisp" TargetMode="External" /><Relationship Id="rId2" Type="http://schemas.openxmlformats.org/officeDocument/2006/relationships/hyperlink" Target="https://virtual-moodle.unne.edu.ar/mod/resource/view.php?id=1046606" TargetMode="External" /><Relationship Id="rId1" Type="http://schemas.openxmlformats.org/officeDocument/2006/relationships/slideLayout" Target="../slideLayouts/slideLayout2.xml" /><Relationship Id="rId4" Type="http://schemas.openxmlformats.org/officeDocument/2006/relationships/image" Target="../media/image16.jpe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423EC36-41D0-39CB-3F7C-01D44704BC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6376" y="1547930"/>
            <a:ext cx="3117271" cy="2823882"/>
          </a:xfrm>
          <a:solidFill>
            <a:schemeClr val="bg1"/>
          </a:solidFill>
        </p:spPr>
        <p:txBody>
          <a:bodyPr>
            <a:normAutofit fontScale="25000" lnSpcReduction="20000"/>
          </a:bodyPr>
          <a:lstStyle/>
          <a:p>
            <a:pPr algn="l"/>
            <a:r>
              <a:rPr lang="es-US" sz="6400" b="1" dirty="0"/>
              <a:t>INTEGRANTES</a:t>
            </a:r>
            <a:r>
              <a:rPr lang="es-US" sz="6400" dirty="0"/>
              <a:t>:</a:t>
            </a:r>
          </a:p>
          <a:p>
            <a:pPr algn="l"/>
            <a:endParaRPr lang="es-US" sz="6400" dirty="0"/>
          </a:p>
          <a:p>
            <a:r>
              <a:rPr lang="es-US" sz="6400" dirty="0"/>
              <a:t>●Rodriguez Rivas Milton Nahuel</a:t>
            </a:r>
          </a:p>
          <a:p>
            <a:r>
              <a:rPr lang="es-US" sz="6400" dirty="0"/>
              <a:t>
●Quintana Flores Lautaro Sebastian</a:t>
            </a:r>
          </a:p>
          <a:p>
            <a:r>
              <a:rPr lang="es-US" sz="6400" dirty="0"/>
              <a:t>
●Nacimiento Nestor Javier</a:t>
            </a:r>
          </a:p>
          <a:p>
            <a:r>
              <a:rPr lang="es-US" sz="6400" dirty="0"/>
              <a:t>
●Fernández Juliana Eva</a:t>
            </a:r>
          </a:p>
          <a:p>
            <a:r>
              <a:rPr lang="es-US" sz="6400" dirty="0"/>
              <a:t>
●Rodríguez Adolfo Joaquín </a:t>
            </a:r>
            <a:r>
              <a:rPr lang="es-US" sz="6400" dirty="0" err="1"/>
              <a:t>Jesus</a:t>
            </a:r>
            <a:endParaRPr lang="es-US" sz="6400" dirty="0"/>
          </a:p>
          <a:p>
            <a:endParaRPr lang="es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BC40B65-CA99-8ACF-05FF-F403A2F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36"/>
          <a:stretch>
            <a:fillRect/>
          </a:stretch>
        </p:blipFill>
        <p:spPr>
          <a:xfrm>
            <a:off x="4685553" y="1547930"/>
            <a:ext cx="5957047" cy="238167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1B484F2-05D5-8E96-7819-167E2275E3F5}"/>
              </a:ext>
            </a:extLst>
          </p:cNvPr>
          <p:cNvSpPr txBox="1"/>
          <p:nvPr/>
        </p:nvSpPr>
        <p:spPr>
          <a:xfrm>
            <a:off x="3045012" y="4602184"/>
            <a:ext cx="610197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s-US" sz="4000" b="1" dirty="0"/>
              <a:t>Paradigmas Funcionales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47C9D7C-FEFB-0C96-DBF6-C746590C93C6}"/>
              </a:ext>
            </a:extLst>
          </p:cNvPr>
          <p:cNvSpPr txBox="1"/>
          <p:nvPr/>
        </p:nvSpPr>
        <p:spPr>
          <a:xfrm>
            <a:off x="9086476" y="5196317"/>
            <a:ext cx="1828800" cy="40011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s-US" sz="2000" b="1" dirty="0"/>
              <a:t>Grupo N°31</a:t>
            </a:r>
          </a:p>
        </p:txBody>
      </p:sp>
    </p:spTree>
    <p:extLst>
      <p:ext uri="{BB962C8B-B14F-4D97-AF65-F5344CB8AC3E}">
        <p14:creationId xmlns:p14="http://schemas.microsoft.com/office/powerpoint/2010/main" val="3847004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43663F-CAF4-486F-3069-71DCE7E0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/>
              <a:t>¿Que es un paradigma Funcional?</a:t>
            </a:r>
            <a:br>
              <a:rPr lang="es-US" dirty="0"/>
            </a:br>
            <a:endParaRPr lang="es-U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856AD5-9B41-A4A7-A210-EB507729B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87338"/>
            <a:ext cx="9601200" cy="3581400"/>
          </a:xfrm>
        </p:spPr>
        <p:txBody>
          <a:bodyPr>
            <a:normAutofit/>
          </a:bodyPr>
          <a:lstStyle/>
          <a:p>
            <a:r>
              <a:rPr lang="es-US" sz="2400" dirty="0"/>
              <a:t>Un paradigma Funcional es una forma de programar utilizando funciones matemáticas para transformar datos y resolver problemas.</a:t>
            </a:r>
          </a:p>
          <a:p>
            <a:endParaRPr lang="es-US" sz="2400" dirty="0"/>
          </a:p>
          <a:p>
            <a:r>
              <a:rPr lang="es-US" sz="2400" dirty="0"/>
              <a:t>Es muy utilizado en códigos como: </a:t>
            </a:r>
            <a:r>
              <a:rPr lang="es-US" sz="2400" dirty="0" err="1"/>
              <a:t>Haskell</a:t>
            </a:r>
            <a:r>
              <a:rPr lang="es-US" sz="2400" dirty="0"/>
              <a:t>, </a:t>
            </a:r>
            <a:r>
              <a:rPr lang="es-US" sz="2400" dirty="0" err="1"/>
              <a:t>Erlang</a:t>
            </a:r>
            <a:r>
              <a:rPr lang="es-US" sz="2400" dirty="0"/>
              <a:t>, </a:t>
            </a:r>
            <a:r>
              <a:rPr lang="es-US" sz="2400" dirty="0" err="1"/>
              <a:t>Clojure,etc</a:t>
            </a:r>
            <a:r>
              <a:rPr lang="es-US" sz="2400" dirty="0"/>
              <a:t>.</a:t>
            </a:r>
          </a:p>
          <a:p>
            <a:pPr marL="0" indent="0">
              <a:buNone/>
            </a:pPr>
            <a:endParaRPr lang="es-US" sz="2400" dirty="0"/>
          </a:p>
          <a:p>
            <a:r>
              <a:rPr lang="es-US" sz="2400" dirty="0"/>
              <a:t>Permite dividir un problema en problemas mas pequeños. Facilitando así su identificación de errores y fácil mantenimiento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8A2DF2A-CD53-358B-AE9C-BC02EA7A25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388"/>
          <a:stretch>
            <a:fillRect/>
          </a:stretch>
        </p:blipFill>
        <p:spPr>
          <a:xfrm>
            <a:off x="8701740" y="5493436"/>
            <a:ext cx="3490259" cy="136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48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3CF39-EAA2-750F-18C4-4C9CFAA36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/>
              <a:t>Características importantes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4FCA42-3244-37D7-5E52-C327ACCE2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76400"/>
            <a:ext cx="9601200" cy="3581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US" sz="2400" dirty="0"/>
              <a:t>Algunas de las características mas importantes en este tipo de paradigma son :</a:t>
            </a:r>
          </a:p>
          <a:p>
            <a:pPr marL="0" indent="0">
              <a:buNone/>
            </a:pPr>
            <a:r>
              <a:rPr lang="es-US" sz="2400" dirty="0"/>
              <a:t>Las funciones puras: son funciones que siempre devuelven un mismo resultado para los mismos parámetros. NO presenta efectos secundarios</a:t>
            </a:r>
          </a:p>
          <a:p>
            <a:pPr marL="0" indent="0">
              <a:buNone/>
            </a:pPr>
            <a:r>
              <a:rPr lang="es-US" sz="2400" dirty="0"/>
              <a:t>La inmutabilidad son constantes o variables que evita que cambiemos los valores una vez creada.</a:t>
            </a:r>
          </a:p>
          <a:p>
            <a:pPr marL="0" indent="0">
              <a:buNone/>
            </a:pPr>
            <a:r>
              <a:rPr lang="es-US" sz="2400" dirty="0"/>
              <a:t>Recursión: son bloque de código que utiliza bucles iterativos para procesar datos.</a:t>
            </a:r>
          </a:p>
          <a:p>
            <a:pPr marL="0" indent="0">
              <a:buNone/>
            </a:pPr>
            <a:endParaRPr lang="es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191BB0-5601-1206-4AB9-3D75E5004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6658" y="5636170"/>
            <a:ext cx="3215341" cy="122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27AB9B-5AAD-497F-1EBD-A4055EC82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/>
              <a:t>Ejemplos de funciones puras</a:t>
            </a:r>
            <a:br>
              <a:rPr lang="es-US" dirty="0"/>
            </a:br>
            <a:endParaRPr lang="es-U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E229BA1-C377-1BEF-A38F-6DE64219B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546411"/>
            <a:ext cx="9601200" cy="3581400"/>
          </a:xfrm>
        </p:spPr>
        <p:txBody>
          <a:bodyPr/>
          <a:lstStyle/>
          <a:p>
            <a:r>
              <a:rPr lang="es-US" dirty="0"/>
              <a:t>En el sistema que hemos desarrollado funciones como transición o </a:t>
            </a:r>
            <a:r>
              <a:rPr lang="es-US" dirty="0" err="1"/>
              <a:t>semaforo</a:t>
            </a:r>
            <a:r>
              <a:rPr lang="es-US" dirty="0"/>
              <a:t>- </a:t>
            </a:r>
            <a:r>
              <a:rPr lang="es-US" dirty="0" err="1"/>
              <a:t>timer</a:t>
            </a:r>
            <a:r>
              <a:rPr lang="es-US" dirty="0"/>
              <a:t> son ejemplos claros de funciones puras </a:t>
            </a:r>
          </a:p>
          <a:p>
            <a:r>
              <a:rPr lang="es-US" b="1" dirty="0"/>
              <a:t>(Mismas entradas(COLORES)Mismas salidas (LISTAS))</a:t>
            </a:r>
          </a:p>
          <a:p>
            <a:pPr marL="0" indent="0">
              <a:buNone/>
            </a:pPr>
            <a:r>
              <a:rPr lang="es-US" dirty="0"/>
              <a:t>EJEMPLO 1:</a:t>
            </a:r>
          </a:p>
          <a:p>
            <a:r>
              <a:rPr lang="es-US" dirty="0"/>
              <a:t>Función transición: Evalúa dos variables que serán ingresadas como parámetro y devuelve una lista en cualquier caso del cond.</a:t>
            </a:r>
          </a:p>
          <a:p>
            <a:endParaRPr lang="es-US" dirty="0"/>
          </a:p>
          <a:p>
            <a:pPr marL="0" indent="0">
              <a:buNone/>
            </a:pPr>
            <a:endParaRPr lang="es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4B5AC1C-ECB7-4D5F-9E33-640DB5722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042" y="3723482"/>
            <a:ext cx="7657319" cy="290633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34A94EC-7389-A76A-9973-11E267C9D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0142" y="5508066"/>
            <a:ext cx="3321858" cy="133704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E42D62-A4EE-83CD-2062-77DE6BE381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6361" y="3759248"/>
            <a:ext cx="3381375" cy="133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540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014A3C-FCAE-C85C-9CD5-A7E3BE58C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1638300"/>
            <a:ext cx="9601200" cy="3581400"/>
          </a:xfrm>
        </p:spPr>
        <p:txBody>
          <a:bodyPr/>
          <a:lstStyle/>
          <a:p>
            <a:pPr marL="0" indent="0">
              <a:buNone/>
            </a:pPr>
            <a:r>
              <a:rPr lang="es-US" dirty="0"/>
              <a:t>Ejemplo 2:</a:t>
            </a:r>
          </a:p>
          <a:p>
            <a:r>
              <a:rPr lang="es-US" dirty="0"/>
              <a:t>Función Semaforo-timer: Aplica la </a:t>
            </a:r>
            <a:r>
              <a:rPr lang="es-US" dirty="0" err="1"/>
              <a:t>funcion</a:t>
            </a:r>
            <a:r>
              <a:rPr lang="es-US" dirty="0"/>
              <a:t> </a:t>
            </a:r>
            <a:r>
              <a:rPr lang="es-US" dirty="0" err="1"/>
              <a:t>mod</a:t>
            </a:r>
            <a:r>
              <a:rPr lang="es-US" dirty="0"/>
              <a:t> sobre la variable </a:t>
            </a:r>
            <a:r>
              <a:rPr lang="es-US" dirty="0" err="1"/>
              <a:t>timestamp</a:t>
            </a:r>
            <a:r>
              <a:rPr lang="es-US" dirty="0"/>
              <a:t> y determina el color activo en esa condición.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8F44ABC-F396-7BC5-C806-D5D69E6B06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US" dirty="0"/>
              <a:t>Ejemplos de funciones puras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1B5128B-4FE2-C482-408B-2001A6355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4940" y="5650472"/>
            <a:ext cx="3287059" cy="1240865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AF82BC86-5F5D-F2A6-1703-E5914B8EB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957512"/>
            <a:ext cx="6115050" cy="24955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6ABF09E-D088-2231-18C2-B4C8FA160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450" y="3775636"/>
            <a:ext cx="4448175" cy="133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64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44F807-D2E1-04E3-1DEB-2096E4388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/>
              <a:t>Ejemplo de función Impura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03645ED-D58C-1CD8-3F6A-882E9DC2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605523"/>
            <a:ext cx="9601200" cy="43613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US" dirty="0"/>
              <a:t>Una función impura o No pura es aquella que modifica variables o estados externos (efectos secundarios) y no garantiza el mismo resultado al recibir los mismos valores de entrada.</a:t>
            </a:r>
          </a:p>
          <a:p>
            <a:pPr marL="0" indent="0">
              <a:buNone/>
            </a:pPr>
            <a:r>
              <a:rPr lang="es-US" b="1" dirty="0"/>
              <a:t>(Mismos Entradas Diferentes Salidas)</a:t>
            </a:r>
          </a:p>
          <a:p>
            <a:pPr marL="0" indent="0">
              <a:buNone/>
            </a:pPr>
            <a:r>
              <a:rPr lang="es-US" dirty="0"/>
              <a:t>Ejemplo : </a:t>
            </a:r>
          </a:p>
          <a:p>
            <a:r>
              <a:rPr lang="es-US" dirty="0" err="1"/>
              <a:t>Funcion</a:t>
            </a:r>
            <a:r>
              <a:rPr lang="es-US" dirty="0"/>
              <a:t> Saludar: No es función pura puesto que el </a:t>
            </a:r>
            <a:r>
              <a:rPr lang="es-US" dirty="0" err="1"/>
              <a:t>format</a:t>
            </a:r>
            <a:r>
              <a:rPr lang="es-US" dirty="0"/>
              <a:t> </a:t>
            </a:r>
            <a:r>
              <a:rPr lang="es-US" dirty="0" err="1"/>
              <a:t>imprimira</a:t>
            </a:r>
            <a:r>
              <a:rPr lang="es-US" dirty="0"/>
              <a:t>  en pantalla creando </a:t>
            </a:r>
            <a:r>
              <a:rPr lang="es-US" dirty="0" err="1"/>
              <a:t>asi</a:t>
            </a:r>
            <a:r>
              <a:rPr lang="es-US" dirty="0"/>
              <a:t> un efecto secundario.(</a:t>
            </a:r>
            <a:r>
              <a:rPr lang="es-US" dirty="0" err="1"/>
              <a:t>Interaccion</a:t>
            </a:r>
            <a:r>
              <a:rPr lang="es-US" dirty="0"/>
              <a:t> con el usuario)</a:t>
            </a:r>
          </a:p>
          <a:p>
            <a:pPr marL="0" indent="0">
              <a:buNone/>
            </a:pPr>
            <a:endParaRPr lang="es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DBEF26E-33AA-C9E2-E458-0D6832CC9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082" y="5629846"/>
            <a:ext cx="3322918" cy="1271016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BA0F139-F866-FEE6-3529-60BC4B9B1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091" y="4394105"/>
            <a:ext cx="3665943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49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A35C3D-8E49-608E-CE77-8BF534D0B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/>
              <a:t>Inmutabilidad </a:t>
            </a:r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D1692334-ADB3-788A-8550-0203CF25D2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45176" y="5561106"/>
            <a:ext cx="3346824" cy="129689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2F324E3-203B-3D62-B0BD-F028BE0CB2BE}"/>
              </a:ext>
            </a:extLst>
          </p:cNvPr>
          <p:cNvSpPr txBox="1"/>
          <p:nvPr/>
        </p:nvSpPr>
        <p:spPr>
          <a:xfrm>
            <a:off x="1231153" y="1326777"/>
            <a:ext cx="1013609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US" dirty="0"/>
              <a:t>La Inmutabilidad es un tipo de dato </a:t>
            </a:r>
            <a:r>
              <a:rPr lang="es-US" dirty="0" err="1"/>
              <a:t>constante;Es</a:t>
            </a:r>
            <a:r>
              <a:rPr lang="es-US" dirty="0"/>
              <a:t> decir una variable que no cambia durante la ejecución del programa tampoco se destruye.</a:t>
            </a:r>
          </a:p>
          <a:p>
            <a:pPr algn="l"/>
            <a:endParaRPr lang="es-US" dirty="0"/>
          </a:p>
          <a:p>
            <a:pPr algn="l"/>
            <a:r>
              <a:rPr lang="es-US" dirty="0"/>
              <a:t>En nuestro informe los datos contantes fueron definidas mediante la función.(</a:t>
            </a:r>
            <a:r>
              <a:rPr lang="es-US" dirty="0" err="1"/>
              <a:t>Defcontant</a:t>
            </a:r>
            <a:r>
              <a:rPr lang="es-US" dirty="0"/>
              <a:t> …)</a:t>
            </a:r>
          </a:p>
          <a:p>
            <a:pPr algn="l"/>
            <a:endParaRPr lang="es-US" dirty="0"/>
          </a:p>
          <a:p>
            <a:pPr algn="l"/>
            <a:endParaRPr lang="es-US" dirty="0"/>
          </a:p>
          <a:p>
            <a:pPr algn="l"/>
            <a:endParaRPr lang="es-US" dirty="0"/>
          </a:p>
          <a:p>
            <a:pPr algn="l"/>
            <a:endParaRPr lang="es-US" dirty="0"/>
          </a:p>
          <a:p>
            <a:pPr algn="l"/>
            <a:endParaRPr lang="es-US" dirty="0"/>
          </a:p>
          <a:p>
            <a:pPr algn="l"/>
            <a:endParaRPr lang="es-US" dirty="0"/>
          </a:p>
          <a:p>
            <a:pPr algn="l"/>
            <a:endParaRPr lang="es-US" dirty="0"/>
          </a:p>
          <a:p>
            <a:pPr algn="l"/>
            <a:endParaRPr lang="es-US" dirty="0"/>
          </a:p>
          <a:p>
            <a:pPr algn="l"/>
            <a:r>
              <a:rPr lang="es-US" dirty="0"/>
              <a:t>Un dato mutable o cambiante es aquella que se crean y se destruyen con </a:t>
            </a:r>
            <a:r>
              <a:rPr lang="es-US" dirty="0" err="1"/>
              <a:t>setq,setf</a:t>
            </a:r>
            <a:r>
              <a:rPr lang="es-US" dirty="0"/>
              <a:t> o </a:t>
            </a:r>
            <a:r>
              <a:rPr lang="es-US" dirty="0" err="1"/>
              <a:t>rplaca.Asignando</a:t>
            </a:r>
            <a:r>
              <a:rPr lang="es-US" dirty="0"/>
              <a:t> valores a una variable y cambiar su valor durante </a:t>
            </a:r>
            <a:r>
              <a:rPr lang="es-US"/>
              <a:t>el programa.</a:t>
            </a:r>
            <a:endParaRPr lang="es-US" dirty="0"/>
          </a:p>
          <a:p>
            <a:pPr algn="l"/>
            <a:endParaRPr lang="es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1A598CA-C24E-EA77-464A-EB3DF2415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695" y="2514601"/>
            <a:ext cx="451485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768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01B0D2-DDC0-E0E7-F775-67273493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494" y="0"/>
            <a:ext cx="9601200" cy="1485900"/>
          </a:xfrm>
        </p:spPr>
        <p:txBody>
          <a:bodyPr/>
          <a:lstStyle/>
          <a:p>
            <a:r>
              <a:rPr lang="es-US" dirty="0"/>
              <a:t>Función de Orden Superior:</a:t>
            </a:r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A17E3F2C-1305-B7B5-8589-2A4ED236BD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25652"/>
          <a:stretch>
            <a:fillRect/>
          </a:stretch>
        </p:blipFill>
        <p:spPr>
          <a:xfrm>
            <a:off x="944282" y="2226807"/>
            <a:ext cx="9601200" cy="1384685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E6CB1258-166C-2BD3-48EB-FDD093443C21}"/>
              </a:ext>
            </a:extLst>
          </p:cNvPr>
          <p:cNvSpPr txBox="1"/>
          <p:nvPr/>
        </p:nvSpPr>
        <p:spPr>
          <a:xfrm>
            <a:off x="1083982" y="673350"/>
            <a:ext cx="100240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US" dirty="0"/>
              <a:t>Una función de orden superior es aquella que cumple al menos una de estas condiciones:
Recibe otra función como parámetro, o Devuelve una función como resultado
Es uno de los pilares del </a:t>
            </a:r>
            <a:r>
              <a:rPr lang="es-US" u="sng" dirty="0"/>
              <a:t>paradigma funcional</a:t>
            </a:r>
            <a:r>
              <a:rPr lang="es-US" dirty="0"/>
              <a:t> porque permite tratar las funciones como “valores” igual que cualquier número o lista.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6A22BB-0115-54B9-8ED0-88F5E66D4F78}"/>
              </a:ext>
            </a:extLst>
          </p:cNvPr>
          <p:cNvSpPr txBox="1"/>
          <p:nvPr/>
        </p:nvSpPr>
        <p:spPr>
          <a:xfrm>
            <a:off x="944282" y="1846919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US" dirty="0"/>
              <a:t>Ejemplo:</a:t>
            </a:r>
          </a:p>
          <a:p>
            <a:pPr algn="l"/>
            <a:endParaRPr lang="es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4873B20F-3DEA-A17D-1A58-001AAC052EE7}"/>
                  </a:ext>
                </a:extLst>
              </p14:cNvPr>
              <p14:cNvContentPartPr/>
              <p14:nvPr/>
            </p14:nvContentPartPr>
            <p14:xfrm>
              <a:off x="1284840" y="4374619"/>
              <a:ext cx="8640" cy="36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4873B20F-3DEA-A17D-1A58-001AAC052EE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5840" y="4365619"/>
                <a:ext cx="2628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Imagen 8">
            <a:extLst>
              <a:ext uri="{FF2B5EF4-FFF2-40B4-BE49-F238E27FC236}">
                <a16:creationId xmlns:a16="http://schemas.microsoft.com/office/drawing/2014/main" id="{77709A0E-BAD0-9CF9-DC61-B2A0D7C8E5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271" y="3666819"/>
            <a:ext cx="8128000" cy="308821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48A66C8-40C6-98DB-401A-47615F15F0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04941" y="5657671"/>
            <a:ext cx="3245445" cy="120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702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8977B-D647-2C4C-D830-D66E25A3B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/>
              <a:t>Bibliografía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C0773D-C201-E255-E7D4-53453C56C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1670" y="1638300"/>
            <a:ext cx="9601200" cy="3581400"/>
          </a:xfrm>
          <a:ln>
            <a:solidFill>
              <a:schemeClr val="bg1"/>
            </a:solidFill>
          </a:ln>
        </p:spPr>
        <p:txBody>
          <a:bodyPr/>
          <a:lstStyle/>
          <a:p>
            <a:pPr marL="0" indent="0">
              <a:buNone/>
            </a:pPr>
            <a:endParaRPr lang="es-US" dirty="0">
              <a:solidFill>
                <a:srgbClr val="77A2BB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s-US" dirty="0">
                <a:solidFill>
                  <a:srgbClr val="77A2BB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https://virtual-moodle.unne.edu.ar/mod/resource/view.php?id=1046606</a:t>
            </a:r>
            <a:endParaRPr lang="es-US" dirty="0"/>
          </a:p>
          <a:p>
            <a:endParaRPr lang="es-US" dirty="0"/>
          </a:p>
          <a:p>
            <a:r>
              <a:rPr lang="es-US" dirty="0">
                <a:hlinkClick r:id="rId3"/>
              </a:rPr>
              <a:t>https://github.com/MiltonRodx/TPI-Funcional-2026-Grupo-Numero31/blob/main/lisp%2Fcore.lisp</a:t>
            </a:r>
            <a:endParaRPr lang="es-US" dirty="0"/>
          </a:p>
          <a:p>
            <a:endParaRPr lang="es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3EE3986-8578-2FD1-74A6-F60F142B5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270" y="5560268"/>
            <a:ext cx="3370729" cy="129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63155"/>
      </p:ext>
    </p:extLst>
  </p:cSld>
  <p:clrMapOvr>
    <a:masterClrMapping/>
  </p:clrMapOvr>
</p:sld>
</file>

<file path=ppt/theme/theme1.xml><?xml version="1.0" encoding="utf-8"?>
<a:theme xmlns:a="http://schemas.openxmlformats.org/drawingml/2006/main" name="TF10001025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025" id="{F9915BBD-9749-466F-995C-8C8D6A938EC0}" vid="{CF1D1A65-FC75-42D2-B7EF-D2991382DC6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9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0" baseType="lpstr">
      <vt:lpstr>TF10001025</vt:lpstr>
      <vt:lpstr>Presentación de PowerPoint</vt:lpstr>
      <vt:lpstr>¿Que es un paradigma Funcional? </vt:lpstr>
      <vt:lpstr>Características importantes</vt:lpstr>
      <vt:lpstr>Ejemplos de funciones puras </vt:lpstr>
      <vt:lpstr>Ejemplos de funciones puras</vt:lpstr>
      <vt:lpstr>Ejemplo de función Impura</vt:lpstr>
      <vt:lpstr>Inmutabilidad </vt:lpstr>
      <vt:lpstr>Función de Orden Superior:</vt:lpstr>
      <vt:lpstr>Bibliografía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Lautaro Flores</dc:creator>
  <cp:lastModifiedBy>Lautaro Flores</cp:lastModifiedBy>
  <cp:revision>31</cp:revision>
  <dcterms:created xsi:type="dcterms:W3CDTF">2026-05-31T23:12:09Z</dcterms:created>
  <dcterms:modified xsi:type="dcterms:W3CDTF">2026-06-01T15:52:58Z</dcterms:modified>
</cp:coreProperties>
</file>